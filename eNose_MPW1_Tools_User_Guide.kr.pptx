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8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BD"/>
    <a:srgbClr val="002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25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22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7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1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4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09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06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93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18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19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63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9F88B-7A55-4C85-A8A4-186BE6FCD8FE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E5BB4-7D64-40D6-B14B-DD566687E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9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4549" y="2085390"/>
            <a:ext cx="663034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2D60"/>
                </a:solidFill>
              </a:defRPr>
            </a:pPr>
            <a:r>
              <a:rPr lang="en-US" altLang="ko-KR" sz="6000" dirty="0" err="1" smtClean="0">
                <a:latin typeface="+mj-lt"/>
              </a:rPr>
              <a:t>eNose</a:t>
            </a:r>
            <a:r>
              <a:rPr lang="en-US" altLang="ko-KR" sz="6000" dirty="0" smtClean="0">
                <a:latin typeface="+mj-lt"/>
              </a:rPr>
              <a:t> MPW1 </a:t>
            </a:r>
          </a:p>
          <a:p>
            <a:pPr algn="ctr">
              <a:defRPr sz="3600" b="1">
                <a:solidFill>
                  <a:srgbClr val="002D60"/>
                </a:solidFill>
              </a:defRPr>
            </a:pPr>
            <a:r>
              <a:rPr lang="en-US" altLang="ko-KR" sz="6000" dirty="0" smtClean="0">
                <a:latin typeface="+mj-lt"/>
              </a:rPr>
              <a:t>CDC </a:t>
            </a:r>
            <a:r>
              <a:rPr lang="ko-KR" altLang="en-US" sz="6000" dirty="0" smtClean="0">
                <a:latin typeface="+mj-lt"/>
              </a:rPr>
              <a:t>테스트가이드</a:t>
            </a:r>
            <a:endParaRPr lang="en-US" altLang="ko-KR" sz="6000" dirty="0">
              <a:latin typeface="+mj-lt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22" y="330061"/>
            <a:ext cx="1212026" cy="76542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6502810"/>
            <a:ext cx="12192000" cy="137651"/>
          </a:xfrm>
          <a:prstGeom prst="rect">
            <a:avLst/>
          </a:prstGeom>
          <a:solidFill>
            <a:srgbClr val="00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1804650" y="6502810"/>
            <a:ext cx="387350" cy="137651"/>
          </a:xfrm>
          <a:prstGeom prst="rect">
            <a:avLst/>
          </a:prstGeom>
          <a:solidFill>
            <a:srgbClr val="00B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82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457200"/>
            <a:ext cx="17965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60"/>
                </a:solidFill>
              </a:defRPr>
            </a:pPr>
            <a:r>
              <a:rPr lang="en-US" altLang="ko-KR" dirty="0" smtClean="0">
                <a:latin typeface="Lato Black" panose="020F0A02020204030203" pitchFamily="34" charset="0"/>
              </a:rPr>
              <a:t>Overview</a:t>
            </a:r>
            <a:endParaRPr lang="en-US" altLang="ko-KR" dirty="0">
              <a:latin typeface="Lato Black" panose="020F0A0202020403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780" y="1512982"/>
            <a:ext cx="104171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ko-KR" altLang="en-US" dirty="0" smtClean="0"/>
              <a:t>본 문서는 </a:t>
            </a:r>
            <a:r>
              <a:rPr lang="en-US" altLang="ko-KR" dirty="0" err="1" smtClean="0"/>
              <a:t>eNose</a:t>
            </a:r>
            <a:r>
              <a:rPr lang="en-US" altLang="ko-KR" dirty="0" smtClean="0"/>
              <a:t> MPW1 </a:t>
            </a:r>
            <a:r>
              <a:rPr lang="ko-KR" altLang="en-US" dirty="0" smtClean="0"/>
              <a:t>테스트 환경에서 테스트 및 로그 시각화 방법을 설명합니다</a:t>
            </a:r>
            <a:r>
              <a:rPr lang="en-US" altLang="ko-KR" dirty="0" smtClean="0"/>
              <a:t>.</a:t>
            </a:r>
          </a:p>
          <a:p>
            <a:pPr>
              <a:defRPr sz="1800">
                <a:solidFill>
                  <a:srgbClr val="231815"/>
                </a:solidFill>
              </a:defRPr>
            </a:pPr>
            <a:r>
              <a:rPr lang="en-US" altLang="ko-KR" dirty="0" smtClean="0"/>
              <a:t>* Arduino</a:t>
            </a:r>
            <a:r>
              <a:rPr lang="ko-KR" altLang="en-US" dirty="0" smtClean="0"/>
              <a:t>보드의 </a:t>
            </a:r>
            <a:r>
              <a:rPr lang="en-US" altLang="ko-KR" dirty="0" smtClean="0"/>
              <a:t>build/download</a:t>
            </a:r>
            <a:r>
              <a:rPr lang="ko-KR" altLang="en-US" dirty="0" smtClean="0"/>
              <a:t>가이드는 별도의 문서를 참고하세요</a:t>
            </a:r>
            <a:r>
              <a:rPr lang="en-US" altLang="ko-KR" dirty="0" smtClean="0"/>
              <a:t>.</a:t>
            </a:r>
          </a:p>
          <a:p>
            <a:pPr>
              <a:defRPr sz="1800">
                <a:solidFill>
                  <a:srgbClr val="231815"/>
                </a:solidFill>
              </a:defRPr>
            </a:pPr>
            <a:r>
              <a:rPr lang="en-US" altLang="ko-KR" dirty="0"/>
              <a:t>  - eNose_MPW1_Arduino_Setting_Guide.pdf</a:t>
            </a:r>
            <a:endParaRPr lang="en-US" altLang="ko-KR" dirty="0" smtClean="0"/>
          </a:p>
          <a:p>
            <a:pPr>
              <a:defRPr sz="1800">
                <a:solidFill>
                  <a:srgbClr val="231815"/>
                </a:solidFill>
              </a:defRPr>
            </a:pPr>
            <a:endParaRPr lang="en-US" b="1" dirty="0">
              <a:latin typeface="Lato" panose="020F0502020204030203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7499" y="4256981"/>
            <a:ext cx="107625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ko-KR" altLang="en-US" dirty="0" smtClean="0"/>
              <a:t>구성</a:t>
            </a:r>
            <a:r>
              <a:rPr lang="en-US" altLang="ko-KR" dirty="0" smtClean="0"/>
              <a:t>:</a:t>
            </a:r>
          </a:p>
          <a:p>
            <a:pPr marL="342900" indent="-342900">
              <a:buAutoNum type="arabicPeriod"/>
              <a:defRPr sz="1800">
                <a:solidFill>
                  <a:srgbClr val="231815"/>
                </a:solidFill>
              </a:defRPr>
            </a:pPr>
            <a:r>
              <a:rPr lang="en-US" altLang="ko-KR" dirty="0" err="1" smtClean="0"/>
              <a:t>eNose</a:t>
            </a:r>
            <a:r>
              <a:rPr lang="en-US" altLang="ko-KR" dirty="0" smtClean="0"/>
              <a:t> MPW1 Board SET : Arduino </a:t>
            </a:r>
            <a:r>
              <a:rPr lang="ko-KR" altLang="en-US" dirty="0" smtClean="0"/>
              <a:t>보드와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센서 보드로 구성된 테스트 셋</a:t>
            </a:r>
            <a:endParaRPr lang="en-US" altLang="ko-KR" dirty="0" smtClean="0"/>
          </a:p>
          <a:p>
            <a:pPr marL="342900" indent="-342900">
              <a:buAutoNum type="arabicPeriod"/>
              <a:defRPr sz="1800">
                <a:solidFill>
                  <a:srgbClr val="231815"/>
                </a:solidFill>
              </a:defRPr>
            </a:pPr>
            <a:r>
              <a:rPr lang="en-US" altLang="ko-KR" dirty="0" err="1" smtClean="0"/>
              <a:t>SJIT_terminal</a:t>
            </a:r>
            <a:r>
              <a:rPr lang="en-US" altLang="ko-KR" dirty="0" smtClean="0"/>
              <a:t> </a:t>
            </a:r>
            <a:r>
              <a:rPr lang="ko-KR" altLang="en-US" dirty="0" smtClean="0"/>
              <a:t>툴 </a:t>
            </a:r>
            <a:r>
              <a:rPr lang="en-US" altLang="ko-KR" dirty="0" smtClean="0"/>
              <a:t>: Arduino </a:t>
            </a:r>
            <a:r>
              <a:rPr lang="ko-KR" altLang="en-US" dirty="0" smtClean="0"/>
              <a:t>보드를 연결하여</a:t>
            </a:r>
            <a:r>
              <a:rPr lang="en-US" altLang="ko-KR" dirty="0" smtClean="0"/>
              <a:t> </a:t>
            </a:r>
            <a:r>
              <a:rPr lang="ko-KR" altLang="en-US" dirty="0" smtClean="0"/>
              <a:t>테스트 매크로를 실행하고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로깅한다</a:t>
            </a:r>
            <a:r>
              <a:rPr lang="en-US" altLang="ko-KR" dirty="0" smtClean="0"/>
              <a:t>. </a:t>
            </a:r>
          </a:p>
          <a:p>
            <a:pPr marL="342900" indent="-342900">
              <a:buAutoNum type="arabicPeriod"/>
              <a:defRPr sz="1800">
                <a:solidFill>
                  <a:srgbClr val="231815"/>
                </a:solidFill>
              </a:defRPr>
            </a:pPr>
            <a:r>
              <a:rPr lang="en-US" altLang="ko-KR" dirty="0" err="1" smtClean="0"/>
              <a:t>SJIT_eNose_MPW_Log_Analyzer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툴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저장된 로그 데이터를 </a:t>
            </a:r>
            <a:r>
              <a:rPr lang="ko-KR" altLang="en-US" dirty="0" err="1" smtClean="0"/>
              <a:t>로딩하여</a:t>
            </a:r>
            <a:r>
              <a:rPr lang="en-US" altLang="ko-KR" dirty="0" smtClean="0"/>
              <a:t>,</a:t>
            </a:r>
            <a:r>
              <a:rPr lang="ko-KR" altLang="en-US" dirty="0" smtClean="0"/>
              <a:t> 시각화 및 </a:t>
            </a:r>
            <a:r>
              <a:rPr lang="en-US" altLang="ko-KR" dirty="0" smtClean="0"/>
              <a:t>CSV</a:t>
            </a:r>
            <a:r>
              <a:rPr lang="ko-KR" altLang="en-US" dirty="0" smtClean="0"/>
              <a:t>로 저장한다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22" y="330061"/>
            <a:ext cx="1212026" cy="76542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0" y="6502810"/>
            <a:ext cx="12192000" cy="137651"/>
          </a:xfrm>
          <a:prstGeom prst="rect">
            <a:avLst/>
          </a:prstGeom>
          <a:solidFill>
            <a:srgbClr val="00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1804650" y="6502810"/>
            <a:ext cx="387350" cy="137651"/>
          </a:xfrm>
          <a:prstGeom prst="rect">
            <a:avLst/>
          </a:prstGeom>
          <a:solidFill>
            <a:srgbClr val="00B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31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731520" y="457200"/>
            <a:ext cx="75445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60"/>
                </a:solidFill>
              </a:defRPr>
            </a:pPr>
            <a:r>
              <a:rPr lang="en-US" altLang="ko-KR" sz="2800" b="1" dirty="0" err="1"/>
              <a:t>eNose</a:t>
            </a:r>
            <a:r>
              <a:rPr lang="en-US" altLang="ko-KR" sz="2800" b="1" dirty="0"/>
              <a:t> MPW1 Board </a:t>
            </a:r>
            <a:r>
              <a:rPr lang="en-US" altLang="ko-KR" sz="2800" b="1" dirty="0" smtClean="0"/>
              <a:t>SET (</a:t>
            </a:r>
            <a:r>
              <a:rPr lang="ko-KR" altLang="en-US" sz="2800" b="1" dirty="0" smtClean="0"/>
              <a:t>테스트 보드 환경</a:t>
            </a:r>
            <a:r>
              <a:rPr lang="en-US" altLang="ko-KR" sz="2800" b="1" dirty="0" smtClean="0"/>
              <a:t>)</a:t>
            </a:r>
            <a:endParaRPr lang="en-US" altLang="ko-KR" dirty="0">
              <a:latin typeface="Lato Black" panose="020F0A0202020403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6444" y="1052700"/>
            <a:ext cx="81925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en-US" dirty="0" smtClean="0">
                <a:latin typeface="Lato" panose="020F0502020204030203" pitchFamily="34" charset="0"/>
              </a:rPr>
              <a:t>MCU </a:t>
            </a:r>
            <a:r>
              <a:rPr lang="ko-KR" altLang="en-US" dirty="0" smtClean="0">
                <a:latin typeface="Lato" panose="020F0502020204030203" pitchFamily="34" charset="0"/>
              </a:rPr>
              <a:t>보드 </a:t>
            </a:r>
            <a:r>
              <a:rPr lang="en-US" altLang="ko-KR" dirty="0">
                <a:latin typeface="Lato" panose="020F0502020204030203" pitchFamily="34" charset="0"/>
              </a:rPr>
              <a:t>: </a:t>
            </a:r>
            <a:r>
              <a:rPr lang="en-US" altLang="ko-KR" dirty="0" err="1">
                <a:latin typeface="Lato" panose="020F0502020204030203" pitchFamily="34" charset="0"/>
              </a:rPr>
              <a:t>Adafruit</a:t>
            </a:r>
            <a:r>
              <a:rPr lang="en-US" altLang="ko-KR" dirty="0">
                <a:latin typeface="Lato" panose="020F0502020204030203" pitchFamily="34" charset="0"/>
              </a:rPr>
              <a:t> </a:t>
            </a:r>
            <a:r>
              <a:rPr lang="en-US" altLang="ko-KR" dirty="0" err="1">
                <a:latin typeface="Lato" panose="020F0502020204030203" pitchFamily="34" charset="0"/>
              </a:rPr>
              <a:t>ItsyBitsy</a:t>
            </a:r>
            <a:r>
              <a:rPr lang="en-US" altLang="ko-KR" dirty="0">
                <a:latin typeface="Lato" panose="020F0502020204030203" pitchFamily="34" charset="0"/>
              </a:rPr>
              <a:t> M0 Express</a:t>
            </a:r>
            <a:endParaRPr lang="en-US" dirty="0" smtClean="0">
              <a:latin typeface="Lato" panose="020F0502020204030203" pitchFamily="34" charset="0"/>
            </a:endParaRPr>
          </a:p>
          <a:p>
            <a:pPr>
              <a:defRPr sz="1800">
                <a:solidFill>
                  <a:srgbClr val="231815"/>
                </a:solidFill>
              </a:defRPr>
            </a:pPr>
            <a:r>
              <a:rPr lang="en-US" dirty="0" smtClean="0">
                <a:latin typeface="Lato" panose="020F0502020204030203" pitchFamily="34" charset="0"/>
              </a:rPr>
              <a:t>CDC </a:t>
            </a:r>
            <a:r>
              <a:rPr lang="ko-KR" altLang="en-US" dirty="0" smtClean="0">
                <a:latin typeface="Lato" panose="020F0502020204030203" pitchFamily="34" charset="0"/>
              </a:rPr>
              <a:t>테스트 센서 </a:t>
            </a:r>
            <a:r>
              <a:rPr lang="en-US" altLang="ko-KR" dirty="0" smtClean="0">
                <a:latin typeface="Lato" panose="020F0502020204030203" pitchFamily="34" charset="0"/>
              </a:rPr>
              <a:t>: </a:t>
            </a:r>
            <a:r>
              <a:rPr lang="en-US" altLang="ko-KR" dirty="0" err="1" smtClean="0">
                <a:latin typeface="Lato" panose="020F0502020204030203" pitchFamily="34" charset="0"/>
              </a:rPr>
              <a:t>fp</a:t>
            </a:r>
            <a:r>
              <a:rPr lang="en-US" altLang="ko-KR" dirty="0" smtClean="0">
                <a:latin typeface="Lato" panose="020F0502020204030203" pitchFamily="34" charset="0"/>
              </a:rPr>
              <a:t> CDC </a:t>
            </a:r>
            <a:r>
              <a:rPr lang="en-US" altLang="ko-KR" dirty="0">
                <a:latin typeface="Lato" panose="020F0502020204030203" pitchFamily="34" charset="0"/>
              </a:rPr>
              <a:t>D (0xA0 [</a:t>
            </a:r>
            <a:r>
              <a:rPr lang="en-US" altLang="ko-KR" dirty="0" err="1">
                <a:latin typeface="Lato" panose="020F0502020204030203" pitchFamily="34" charset="0"/>
              </a:rPr>
              <a:t>eNose</a:t>
            </a:r>
            <a:r>
              <a:rPr lang="en-US" altLang="ko-KR" dirty="0">
                <a:latin typeface="Lato" panose="020F0502020204030203" pitchFamily="34" charset="0"/>
              </a:rPr>
              <a:t> D_CHIP</a:t>
            </a:r>
            <a:r>
              <a:rPr lang="en-US" altLang="ko-KR" dirty="0" smtClean="0">
                <a:latin typeface="Lato" panose="020F0502020204030203" pitchFamily="34" charset="0"/>
              </a:rPr>
              <a:t>])</a:t>
            </a:r>
          </a:p>
          <a:p>
            <a:pPr>
              <a:defRPr sz="1800">
                <a:solidFill>
                  <a:srgbClr val="231815"/>
                </a:solidFill>
              </a:defRPr>
            </a:pPr>
            <a:r>
              <a:rPr lang="en-US" altLang="ko-KR" dirty="0" smtClean="0">
                <a:latin typeface="Lato" panose="020F0502020204030203" pitchFamily="34" charset="0"/>
              </a:rPr>
              <a:t>* CDC Test </a:t>
            </a:r>
            <a:r>
              <a:rPr lang="en-US" altLang="ko-KR" dirty="0" err="1" smtClean="0">
                <a:latin typeface="Lato" panose="020F0502020204030203" pitchFamily="34" charset="0"/>
              </a:rPr>
              <a:t>Cmd</a:t>
            </a:r>
            <a:r>
              <a:rPr lang="en-US" altLang="ko-KR" dirty="0" smtClean="0">
                <a:latin typeface="Lato" panose="020F0502020204030203" pitchFamily="34" charset="0"/>
              </a:rPr>
              <a:t> </a:t>
            </a:r>
            <a:r>
              <a:rPr lang="en-US" altLang="ko-KR" dirty="0">
                <a:latin typeface="Lato" panose="020F0502020204030203" pitchFamily="34" charset="0"/>
              </a:rPr>
              <a:t>: 11- CDC Test -&gt; order of Clock:8 -&gt; fp:1</a:t>
            </a:r>
            <a:endParaRPr lang="en-US" altLang="ko-KR" dirty="0" smtClean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22" y="330061"/>
            <a:ext cx="1212026" cy="765428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0" y="6502810"/>
            <a:ext cx="12192000" cy="137651"/>
          </a:xfrm>
          <a:prstGeom prst="rect">
            <a:avLst/>
          </a:prstGeom>
          <a:solidFill>
            <a:srgbClr val="00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1804650" y="6502810"/>
            <a:ext cx="387350" cy="137651"/>
          </a:xfrm>
          <a:prstGeom prst="rect">
            <a:avLst/>
          </a:prstGeom>
          <a:solidFill>
            <a:srgbClr val="00B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992" y="2643028"/>
            <a:ext cx="6448425" cy="2076450"/>
          </a:xfrm>
          <a:prstGeom prst="rect">
            <a:avLst/>
          </a:prstGeom>
        </p:spPr>
      </p:pic>
      <p:sp>
        <p:nvSpPr>
          <p:cNvPr id="22" name="모서리가 둥근 직사각형 21"/>
          <p:cNvSpPr/>
          <p:nvPr/>
        </p:nvSpPr>
        <p:spPr>
          <a:xfrm>
            <a:off x="2916881" y="3840573"/>
            <a:ext cx="1470561" cy="5998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6810771" y="3672863"/>
            <a:ext cx="2112089" cy="94575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96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31520" y="457200"/>
            <a:ext cx="67482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60"/>
                </a:solidFill>
              </a:defRPr>
            </a:pPr>
            <a:r>
              <a:rPr lang="en-US" altLang="ko-KR" sz="2800" b="1" dirty="0" err="1" smtClean="0"/>
              <a:t>SJIT_terminal</a:t>
            </a:r>
            <a:r>
              <a:rPr lang="en-US" altLang="ko-KR" sz="2800" b="1" dirty="0" smtClean="0"/>
              <a:t> : </a:t>
            </a:r>
            <a:r>
              <a:rPr lang="ko-KR" altLang="en-US" sz="2800" b="1" dirty="0" smtClean="0"/>
              <a:t>터미널 기능 및</a:t>
            </a:r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로그저장</a:t>
            </a:r>
            <a:endParaRPr lang="en-US" altLang="ko-KR" dirty="0">
              <a:latin typeface="Lato Black" panose="020F0A02020204030203" pitchFamily="34" charset="0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22" y="330061"/>
            <a:ext cx="1212026" cy="765428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0" y="6502810"/>
            <a:ext cx="12192000" cy="137651"/>
          </a:xfrm>
          <a:prstGeom prst="rect">
            <a:avLst/>
          </a:prstGeom>
          <a:solidFill>
            <a:srgbClr val="00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11804650" y="6502810"/>
            <a:ext cx="387350" cy="137651"/>
          </a:xfrm>
          <a:prstGeom prst="rect">
            <a:avLst/>
          </a:prstGeom>
          <a:solidFill>
            <a:srgbClr val="00B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69111"/>
            <a:ext cx="6836408" cy="54186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390" y="1690851"/>
            <a:ext cx="4443854" cy="105369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90081" y="1282926"/>
            <a:ext cx="444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ko-KR" altLang="en-US" dirty="0" smtClean="0">
                <a:latin typeface="Lato" panose="020F0502020204030203" pitchFamily="34" charset="0"/>
              </a:rPr>
              <a:t>매크로 설정파일</a:t>
            </a:r>
            <a:r>
              <a:rPr lang="en-US" altLang="ko-KR" dirty="0">
                <a:latin typeface="Lato" panose="020F0502020204030203" pitchFamily="34" charset="0"/>
              </a:rPr>
              <a:t>(Default_command.xlsx)</a:t>
            </a:r>
            <a:endParaRPr lang="en-US" altLang="ko-KR" dirty="0" smtClean="0">
              <a:latin typeface="Lato" panose="020F0502020204030203" pitchFamily="34" charset="0"/>
            </a:endParaRPr>
          </a:p>
          <a:p>
            <a:pPr>
              <a:defRPr sz="1800">
                <a:solidFill>
                  <a:srgbClr val="231815"/>
                </a:solidFill>
              </a:defRPr>
            </a:pPr>
            <a:endParaRPr lang="en-US" altLang="ko-KR" dirty="0" smtClean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7817454" y="2054674"/>
            <a:ext cx="269533" cy="1537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077231" y="2012406"/>
            <a:ext cx="986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온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/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습도 읽기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7818852" y="2223852"/>
            <a:ext cx="269533" cy="1537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068872" y="2169784"/>
            <a:ext cx="986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CDC Test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7820250" y="2384641"/>
            <a:ext cx="269533" cy="1537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8068872" y="2339009"/>
            <a:ext cx="1252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Order </a:t>
            </a:r>
            <a:r>
              <a:rPr lang="en-US" altLang="ko-KR" sz="1000" b="1" dirty="0">
                <a:solidFill>
                  <a:srgbClr val="FF0000"/>
                </a:solidFill>
              </a:rPr>
              <a:t>of Clock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7813259" y="2553819"/>
            <a:ext cx="269533" cy="1537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077241" y="2499772"/>
            <a:ext cx="1252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>
                <a:solidFill>
                  <a:srgbClr val="FF0000"/>
                </a:solidFill>
              </a:rPr>
              <a:t>f</a:t>
            </a:r>
            <a:r>
              <a:rPr lang="en-US" altLang="ko-KR" sz="1000" b="1" dirty="0" err="1" smtClean="0">
                <a:solidFill>
                  <a:srgbClr val="FF0000"/>
                </a:solidFill>
              </a:rPr>
              <a:t>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01364" y="5757725"/>
            <a:ext cx="4443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en-US" altLang="ko-KR" sz="1200" dirty="0" smtClean="0">
                <a:latin typeface="Lato" panose="020F0502020204030203" pitchFamily="34" charset="0"/>
              </a:rPr>
              <a:t>* </a:t>
            </a:r>
            <a:r>
              <a:rPr lang="ko-KR" altLang="en-US" sz="1200" dirty="0" smtClean="0">
                <a:latin typeface="Lato" panose="020F0502020204030203" pitchFamily="34" charset="0"/>
              </a:rPr>
              <a:t>로그 파일 예제는 </a:t>
            </a:r>
            <a:r>
              <a:rPr lang="en-US" altLang="ko-KR" sz="1200" dirty="0" err="1" smtClean="0">
                <a:latin typeface="Lato" panose="020F0502020204030203" pitchFamily="34" charset="0"/>
              </a:rPr>
              <a:t>SJIT_eNose_MPW_Log_Analyzer</a:t>
            </a:r>
            <a:r>
              <a:rPr lang="en-US" altLang="ko-KR" sz="1200" dirty="0" smtClean="0">
                <a:latin typeface="Lato" panose="020F0502020204030203" pitchFamily="34" charset="0"/>
              </a:rPr>
              <a:t> </a:t>
            </a:r>
            <a:r>
              <a:rPr lang="ko-KR" altLang="en-US" sz="1200" dirty="0" smtClean="0">
                <a:latin typeface="Lato" panose="020F0502020204030203" pitchFamily="34" charset="0"/>
              </a:rPr>
              <a:t>에 있습니다</a:t>
            </a:r>
            <a:r>
              <a:rPr lang="en-US" altLang="ko-KR" sz="1200" dirty="0" smtClean="0">
                <a:latin typeface="Lato" panose="020F0502020204030203" pitchFamily="34" charset="0"/>
              </a:rPr>
              <a:t>.</a:t>
            </a:r>
          </a:p>
          <a:p>
            <a:pPr>
              <a:defRPr sz="1800">
                <a:solidFill>
                  <a:srgbClr val="231815"/>
                </a:solidFill>
              </a:defRPr>
            </a:pPr>
            <a:r>
              <a:rPr lang="en-US" altLang="ko-KR" sz="1200" dirty="0"/>
              <a:t>- example_log_raw.txt</a:t>
            </a:r>
            <a:endParaRPr lang="en-US" altLang="ko-KR" sz="1200" dirty="0" smtClean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826625" y="1518477"/>
            <a:ext cx="1035731" cy="17101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731520" y="3206435"/>
            <a:ext cx="1853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1.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시리얼 포트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Scan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115736" y="1728133"/>
            <a:ext cx="0" cy="147830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3057213" y="1513865"/>
            <a:ext cx="1035731" cy="17101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2897448" y="1246110"/>
            <a:ext cx="1853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2.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장치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시리얼 포트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선택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1941919" y="1505427"/>
            <a:ext cx="1035731" cy="17101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1625050" y="1797758"/>
            <a:ext cx="1853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3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장치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시리얼 포트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연결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2431918" y="1686573"/>
            <a:ext cx="21871" cy="13386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모서리가 둥근 직사각형 45"/>
          <p:cNvSpPr/>
          <p:nvPr/>
        </p:nvSpPr>
        <p:spPr>
          <a:xfrm>
            <a:off x="1353103" y="2044954"/>
            <a:ext cx="271948" cy="15644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1255298" y="6142007"/>
            <a:ext cx="444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4.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장치 동작 확인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클릭 후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엔터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입력시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 메뉴 출력됨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4885442" y="2012627"/>
            <a:ext cx="457253" cy="18877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4592" y="1998380"/>
            <a:ext cx="2715004" cy="257211"/>
          </a:xfrm>
          <a:prstGeom prst="rect">
            <a:avLst/>
          </a:prstGeom>
        </p:spPr>
      </p:pic>
      <p:sp>
        <p:nvSpPr>
          <p:cNvPr id="47" name="모서리가 둥근 직사각형 46"/>
          <p:cNvSpPr/>
          <p:nvPr/>
        </p:nvSpPr>
        <p:spPr>
          <a:xfrm>
            <a:off x="1255298" y="6119649"/>
            <a:ext cx="4447332" cy="32875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625050" y="2012627"/>
            <a:ext cx="25682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테스트 횟수 설정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(0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으로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설정시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 무제한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04976" y="1999315"/>
            <a:ext cx="25682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테스트 주기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(2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분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6889370" y="2025206"/>
            <a:ext cx="542384" cy="17619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6541543" y="2315099"/>
            <a:ext cx="117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5.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테스트 시작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364" y="3574766"/>
            <a:ext cx="4515480" cy="1400370"/>
          </a:xfrm>
          <a:prstGeom prst="rect">
            <a:avLst/>
          </a:prstGeom>
        </p:spPr>
      </p:pic>
      <p:sp>
        <p:nvSpPr>
          <p:cNvPr id="54" name="모서리가 둥근 직사각형 53"/>
          <p:cNvSpPr/>
          <p:nvPr/>
        </p:nvSpPr>
        <p:spPr>
          <a:xfrm>
            <a:off x="8919302" y="4033991"/>
            <a:ext cx="2958662" cy="22248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9612284" y="4246476"/>
            <a:ext cx="1853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로그 파일 이름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자동 저장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8919301" y="4459950"/>
            <a:ext cx="769643" cy="22248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9653846" y="4472765"/>
            <a:ext cx="21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C000"/>
                </a:solidFill>
              </a:rPr>
              <a:t>윈도우 탐색기로 로그폴더열기</a:t>
            </a:r>
            <a:endParaRPr lang="ko-KR" altLang="en-US" sz="1000" b="1" dirty="0">
              <a:solidFill>
                <a:srgbClr val="FFC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30410" y="3264414"/>
            <a:ext cx="444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ko-KR" altLang="en-US" dirty="0" smtClean="0">
                <a:latin typeface="Lato" panose="020F0502020204030203" pitchFamily="34" charset="0"/>
              </a:rPr>
              <a:t>로그파일 확인 방법</a:t>
            </a:r>
            <a:r>
              <a:rPr lang="en-US" altLang="ko-KR" dirty="0" smtClean="0">
                <a:latin typeface="Lato" panose="020F0502020204030203" pitchFamily="34" charset="0"/>
              </a:rPr>
              <a:t>.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0021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54445" y="1044859"/>
            <a:ext cx="10647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ko-KR" altLang="en-US" dirty="0" smtClean="0"/>
              <a:t>로그파일을 </a:t>
            </a:r>
            <a:r>
              <a:rPr lang="ko-KR" altLang="en-US" dirty="0" err="1" smtClean="0"/>
              <a:t>로딩하여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시각화 및 </a:t>
            </a:r>
            <a:r>
              <a:rPr lang="en-US" altLang="ko-KR" dirty="0" smtClean="0"/>
              <a:t>CSV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Excel</a:t>
            </a:r>
            <a:r>
              <a:rPr lang="ko-KR" altLang="en-US" dirty="0" smtClean="0"/>
              <a:t>파일로 </a:t>
            </a:r>
            <a:r>
              <a:rPr lang="ko-KR" altLang="en-US" dirty="0" smtClean="0"/>
              <a:t>변환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저장합니다</a:t>
            </a:r>
            <a:r>
              <a:rPr lang="en-US" altLang="ko-KR" dirty="0" smtClean="0"/>
              <a:t>. *X</a:t>
            </a:r>
            <a:r>
              <a:rPr lang="ko-KR" altLang="en-US" dirty="0" smtClean="0"/>
              <a:t>축</a:t>
            </a:r>
            <a:r>
              <a:rPr lang="en-US" altLang="ko-KR" dirty="0" smtClean="0"/>
              <a:t>: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, Y</a:t>
            </a:r>
            <a:r>
              <a:rPr lang="ko-KR" altLang="en-US" dirty="0" smtClean="0"/>
              <a:t>축</a:t>
            </a:r>
            <a:r>
              <a:rPr lang="en-US" altLang="ko-KR" dirty="0" smtClean="0"/>
              <a:t>: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좌우</a:t>
            </a:r>
            <a:r>
              <a:rPr lang="en-US" altLang="ko-KR" dirty="0" smtClean="0"/>
              <a:t>)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22" y="330061"/>
            <a:ext cx="1212026" cy="765428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0" y="6502810"/>
            <a:ext cx="12192000" cy="137651"/>
          </a:xfrm>
          <a:prstGeom prst="rect">
            <a:avLst/>
          </a:prstGeom>
          <a:solidFill>
            <a:srgbClr val="00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1804650" y="6502810"/>
            <a:ext cx="387350" cy="137651"/>
          </a:xfrm>
          <a:prstGeom prst="rect">
            <a:avLst/>
          </a:prstGeom>
          <a:solidFill>
            <a:srgbClr val="00B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"/>
            <a:ext cx="9352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60"/>
                </a:solidFill>
              </a:defRPr>
            </a:pPr>
            <a:r>
              <a:rPr lang="en-US" altLang="ko-KR" sz="2800" b="1" dirty="0" err="1" smtClean="0"/>
              <a:t>SJIT_eNose_MPW_Log_Analyzer</a:t>
            </a:r>
            <a:r>
              <a:rPr lang="en-US" altLang="ko-KR" sz="2800" b="1" dirty="0" smtClean="0"/>
              <a:t> : </a:t>
            </a:r>
            <a:r>
              <a:rPr lang="ko-KR" altLang="en-US" sz="2800" b="1" dirty="0" smtClean="0"/>
              <a:t>로그파일 시각화</a:t>
            </a:r>
            <a:r>
              <a:rPr lang="en-US" altLang="ko-KR" sz="2800" b="1" dirty="0" smtClean="0"/>
              <a:t>(csv)</a:t>
            </a:r>
            <a:endParaRPr lang="en-US" altLang="ko-KR" dirty="0">
              <a:latin typeface="Lato Black" panose="020F0A0202020403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445" y="1340130"/>
            <a:ext cx="84863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1815"/>
                </a:solidFill>
              </a:defRPr>
            </a:pPr>
            <a:r>
              <a:rPr lang="en-US" altLang="ko-KR" sz="1200" dirty="0" smtClean="0"/>
              <a:t>* example_log_raw.txt : </a:t>
            </a:r>
            <a:r>
              <a:rPr lang="ko-KR" altLang="en-US" sz="1200" dirty="0" smtClean="0"/>
              <a:t>로그파일 예제</a:t>
            </a:r>
            <a:r>
              <a:rPr lang="en-US" altLang="ko-KR" sz="1200" dirty="0"/>
              <a:t>, </a:t>
            </a:r>
            <a:r>
              <a:rPr lang="en-US" altLang="ko-KR" sz="1200" dirty="0" smtClean="0"/>
              <a:t>example_log_raw.csv : </a:t>
            </a:r>
            <a:r>
              <a:rPr lang="ko-KR" altLang="en-US" sz="1200" dirty="0" smtClean="0"/>
              <a:t>예제 로그파일 </a:t>
            </a:r>
            <a:r>
              <a:rPr lang="en-US" altLang="ko-KR" sz="1200" dirty="0" smtClean="0"/>
              <a:t>csv</a:t>
            </a:r>
            <a:r>
              <a:rPr lang="ko-KR" altLang="en-US" sz="1200" dirty="0" smtClean="0"/>
              <a:t>로 변환</a:t>
            </a:r>
            <a:endParaRPr lang="en-US" altLang="ko-KR" sz="1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45" y="1684576"/>
            <a:ext cx="7840443" cy="46152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41052" y="2515435"/>
            <a:ext cx="1629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로그파일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Open (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읽기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281" y="2813669"/>
            <a:ext cx="2219635" cy="138131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48180" y="4260819"/>
            <a:ext cx="285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Open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된 로그파일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Reload (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다시 읽기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54445" y="2624649"/>
            <a:ext cx="1202955" cy="298401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57517" y="5619380"/>
            <a:ext cx="1095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smtClean="0">
                <a:solidFill>
                  <a:srgbClr val="FF0000"/>
                </a:solidFill>
              </a:rPr>
              <a:t>데이터 정보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pPr algn="ctr"/>
            <a:r>
              <a:rPr lang="en-US" altLang="ko-KR" sz="1000" b="1" dirty="0" smtClean="0">
                <a:solidFill>
                  <a:srgbClr val="FF0000"/>
                </a:solidFill>
              </a:rPr>
              <a:t>Lines Cursor Or</a:t>
            </a:r>
          </a:p>
          <a:p>
            <a:pPr algn="ctr"/>
            <a:r>
              <a:rPr lang="ko-KR" altLang="en-US" sz="1000" b="1" dirty="0" smtClean="0">
                <a:solidFill>
                  <a:srgbClr val="FF0000"/>
                </a:solidFill>
              </a:rPr>
              <a:t>현재 화면 전체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2363239" y="2038350"/>
            <a:ext cx="5757705" cy="3981449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7952189" y="5734354"/>
            <a:ext cx="872445" cy="22944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58360" y="5591494"/>
            <a:ext cx="28564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시각화 화면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* C </a:t>
            </a:r>
            <a:r>
              <a:rPr lang="en-US" altLang="ko-KR" sz="1000" b="1" dirty="0" err="1" smtClean="0">
                <a:solidFill>
                  <a:srgbClr val="FF0000"/>
                </a:solidFill>
              </a:rPr>
              <a:t>Avg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값의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Y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모든 데이터의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X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 전체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드래그 앤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드랍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 좌우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: X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 이동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드래그 앤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드랍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 위아래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: C </a:t>
            </a:r>
            <a:r>
              <a:rPr lang="en-US" altLang="ko-KR" sz="1000" b="1" dirty="0" err="1" smtClean="0">
                <a:solidFill>
                  <a:srgbClr val="FF0000"/>
                </a:solidFill>
              </a:rPr>
              <a:t>avg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 Y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 기준 이동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마우스 휠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: X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 범위 확대 축소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endParaRPr lang="en-US" altLang="ko-KR" sz="1000" b="1" dirty="0" smtClean="0">
              <a:solidFill>
                <a:srgbClr val="FF0000"/>
              </a:solidFill>
            </a:endParaRPr>
          </a:p>
          <a:p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8225719" y="2238375"/>
            <a:ext cx="156282" cy="347662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881457" y="2151034"/>
            <a:ext cx="185344" cy="1573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679877" y="2265051"/>
            <a:ext cx="174568" cy="28790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0838" y="2538864"/>
            <a:ext cx="754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FF0000"/>
                </a:solidFill>
              </a:rPr>
              <a:t>라인커서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/>
            </a:r>
            <a:br>
              <a:rPr lang="en-US" altLang="ko-KR" sz="1000" b="1" dirty="0" smtClean="0">
                <a:solidFill>
                  <a:srgbClr val="FF0000"/>
                </a:solidFill>
              </a:rPr>
            </a:br>
            <a:r>
              <a:rPr lang="en-US" altLang="ko-KR" sz="1000" b="1" dirty="0" smtClean="0">
                <a:solidFill>
                  <a:srgbClr val="FF0000"/>
                </a:solidFill>
              </a:rPr>
              <a:t>On/Off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8444794" y="2238375"/>
            <a:ext cx="156282" cy="347662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2109948" y="2225437"/>
            <a:ext cx="200743" cy="370863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/>
          <p:cNvCxnSpPr/>
          <p:nvPr/>
        </p:nvCxnSpPr>
        <p:spPr>
          <a:xfrm>
            <a:off x="2210319" y="5980848"/>
            <a:ext cx="0" cy="38320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55922" y="6317741"/>
            <a:ext cx="5021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C </a:t>
            </a:r>
            <a:r>
              <a:rPr lang="en-US" altLang="ko-KR" sz="1000" b="1" dirty="0" err="1" smtClean="0">
                <a:solidFill>
                  <a:srgbClr val="FF0000"/>
                </a:solidFill>
              </a:rPr>
              <a:t>Avg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(Main) Y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 데이터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. *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마우스 휠 </a:t>
            </a:r>
            <a:r>
              <a:rPr lang="en-US" altLang="ko-KR" sz="1000" b="1" dirty="0">
                <a:solidFill>
                  <a:srgbClr val="FF0000"/>
                </a:solidFill>
              </a:rPr>
              <a:t>C </a:t>
            </a:r>
            <a:r>
              <a:rPr lang="en-US" altLang="ko-KR" sz="1000" b="1" dirty="0" err="1">
                <a:solidFill>
                  <a:srgbClr val="FF0000"/>
                </a:solidFill>
              </a:rPr>
              <a:t>avg</a:t>
            </a:r>
            <a:r>
              <a:rPr lang="en-US" altLang="ko-KR" sz="1000" b="1" dirty="0">
                <a:solidFill>
                  <a:srgbClr val="FF0000"/>
                </a:solidFill>
              </a:rPr>
              <a:t>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Y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범위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확대축소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41" name="직선 연결선 40"/>
          <p:cNvCxnSpPr/>
          <p:nvPr/>
        </p:nvCxnSpPr>
        <p:spPr>
          <a:xfrm flipV="1">
            <a:off x="8258665" y="4782459"/>
            <a:ext cx="821154" cy="92493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8504818" y="4782459"/>
            <a:ext cx="575001" cy="93254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033287" y="4622906"/>
            <a:ext cx="3158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C </a:t>
            </a:r>
            <a:r>
              <a:rPr lang="en-US" altLang="ko-KR" sz="1000" b="1" dirty="0" err="1" smtClean="0">
                <a:solidFill>
                  <a:srgbClr val="FF0000"/>
                </a:solidFill>
              </a:rPr>
              <a:t>Avg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를 제외한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(Sub) Y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 데이터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*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각</a:t>
            </a:r>
            <a:r>
              <a:rPr lang="en-US" altLang="ko-KR" sz="1000" b="1" dirty="0">
                <a:solidFill>
                  <a:srgbClr val="FF0000"/>
                </a:solidFill>
              </a:rPr>
              <a:t>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영역에서 마우스 컨트롤 지원</a:t>
            </a:r>
            <a:endParaRPr lang="en-US" altLang="ko-KR" sz="1000" b="1" dirty="0" smtClean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드래그 앤 </a:t>
            </a:r>
            <a:r>
              <a:rPr lang="ko-KR" altLang="en-US" sz="1000" b="1" dirty="0" err="1">
                <a:solidFill>
                  <a:srgbClr val="FF0000"/>
                </a:solidFill>
              </a:rPr>
              <a:t>드랍</a:t>
            </a:r>
            <a:r>
              <a:rPr lang="ko-KR" altLang="en-US" sz="1000" b="1" dirty="0">
                <a:solidFill>
                  <a:srgbClr val="FF0000"/>
                </a:solidFill>
              </a:rPr>
              <a:t> 위아래 </a:t>
            </a:r>
            <a:r>
              <a:rPr lang="en-US" altLang="ko-KR" sz="1000" b="1" dirty="0">
                <a:solidFill>
                  <a:srgbClr val="FF0000"/>
                </a:solidFill>
              </a:rPr>
              <a:t>: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각 데이터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</a:rPr>
              <a:t>Y</a:t>
            </a:r>
            <a:r>
              <a:rPr lang="ko-KR" altLang="en-US" sz="1000" b="1" dirty="0">
                <a:solidFill>
                  <a:srgbClr val="FF0000"/>
                </a:solidFill>
              </a:rPr>
              <a:t>축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기준 이동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마우스 휠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영역 </a:t>
            </a:r>
            <a:r>
              <a:rPr lang="ko-KR" altLang="en-US" sz="1000" b="1" dirty="0" err="1" smtClean="0">
                <a:solidFill>
                  <a:srgbClr val="FF0000"/>
                </a:solidFill>
              </a:rPr>
              <a:t>클릭후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</a:rPr>
              <a:t>: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각 데이터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</a:rPr>
              <a:t>Y</a:t>
            </a:r>
            <a:r>
              <a:rPr lang="ko-KR" altLang="en-US" sz="1000" b="1" dirty="0">
                <a:solidFill>
                  <a:srgbClr val="FF0000"/>
                </a:solidFill>
              </a:rPr>
              <a:t>축 확대 </a:t>
            </a:r>
            <a:r>
              <a:rPr lang="ko-KR" altLang="en-US" sz="1000" b="1" dirty="0" smtClean="0">
                <a:solidFill>
                  <a:srgbClr val="FF0000"/>
                </a:solidFill>
              </a:rPr>
              <a:t>축소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518680" y="2266951"/>
            <a:ext cx="214996" cy="12192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2403426" y="3546537"/>
            <a:ext cx="2856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rgbClr val="FF0000"/>
                </a:solidFill>
              </a:rPr>
              <a:t>시각화 화면에서 각 그래프 </a:t>
            </a:r>
            <a:r>
              <a:rPr lang="en-US" altLang="ko-KR" sz="1000" b="1" dirty="0" smtClean="0">
                <a:solidFill>
                  <a:srgbClr val="FF0000"/>
                </a:solidFill>
              </a:rPr>
              <a:t>On/Off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281" y="1593606"/>
            <a:ext cx="16097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7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385</Words>
  <Application>Microsoft Office PowerPoint</Application>
  <PresentationFormat>와이드스크린</PresentationFormat>
  <Paragraphs>52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Lato</vt:lpstr>
      <vt:lpstr>Lato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RyanKim</dc:creator>
  <cp:lastModifiedBy>Windows 사용자</cp:lastModifiedBy>
  <cp:revision>44</cp:revision>
  <dcterms:created xsi:type="dcterms:W3CDTF">2025-08-08T08:22:08Z</dcterms:created>
  <dcterms:modified xsi:type="dcterms:W3CDTF">2025-09-30T07:56:20Z</dcterms:modified>
</cp:coreProperties>
</file>